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18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B596B0-BA26-4D81-B002-BB0589CA1A47}" type="slidenum"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IN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70FC-9F21-43DD-A814-2A37216E1A43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B6A7EF-AEA4-444B-8853-25F8CA8C2E25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65E3A4B-81C9-47EF-8083-AAAA5FE497F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ED2B4AB-D6C5-4F9C-AAA9-ACD7D8D2980C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216000" indent="-216000">
              <a:buNone/>
            </a:pPr>
            <a:endParaRPr lang="en-IN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1C4B774-49A7-4820-8658-4853F4CDBC13}" type="slidenum">
              <a:rPr lang="en-US" sz="1200" b="0" strike="noStrike" spc="-1">
                <a:solidFill>
                  <a:srgbClr val="000000"/>
                </a:solidFill>
                <a:latin typeface="Calibri"/>
                <a:ea typeface="ＭＳ Ｐゴシック"/>
              </a:rPr>
              <a:t>6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8E43D709-9438-4E06-9555-263A089F8E2E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7C13E427-BF0C-4257-840D-040CEDF73CD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fld id="{49AAB66A-BCF3-4CCF-B2B3-38A175E22F3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330A4CCE-CA8D-4F95-B031-78B720E2EAF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C2A2F1F5-2130-425C-A1AF-87C7138E8D3A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095480"/>
            <a:ext cx="53542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lstStyle/>
          <a:p>
            <a:fld id="{ECB91DC3-8269-45C3-86BA-F25D3B27984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lstStyle/>
          <a:p>
            <a:fld id="{4030E11C-33DD-4774-A059-0A0513AEF73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lstStyle/>
          <a:p>
            <a:fld id="{359EA091-27D9-4266-BAC3-4E0E3E6F5BE4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lstStyle/>
          <a:p>
            <a:fld id="{F0BBE227-CE76-4EE2-99E7-C975B1F063E8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lstStyle/>
          <a:p>
            <a:fld id="{B0B753A3-1247-4BEF-A58B-3AFE5A5F739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lstStyle/>
          <a:p>
            <a:fld id="{FB6BBEB7-9907-439F-AC21-1B212AEF332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176F86A-54A0-4A0A-9141-F1129B62A1C1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027678-E409-4D23-81BB-579826C0454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59D7A32-9AD0-4A6F-BCFD-931EBC82135E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DA26866-9E38-4D79-92AB-2D6358588418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3549CDE-AB06-457C-8565-E91EFFEADEB6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095480"/>
            <a:ext cx="535392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E5046AC-5463-4406-A176-CAA4A67B62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184A541-3FE1-4CE7-BAC7-85C62F3D5369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ctr">
            <a:noAutofit/>
          </a:bodyPr>
          <a:lstStyle/>
          <a:p>
            <a:pPr indent="0">
              <a:buNone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6A125A6-50F5-44E1-AE96-97F0A47EF094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2AAFB62-1C50-42B8-AF76-E28AAFD9CAD0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F786ED9-6CF6-4911-A926-54455549656D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TradeGothic"/>
              </a:rPr>
              <a:t>&lt;footer&gt;</a:t>
            </a:r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01E26C6-8147-4A1B-A690-24E72B344482}" type="slidenum">
              <a:rPr lang="en-US" sz="1200" b="0" strike="noStrike" spc="-1">
                <a:solidFill>
                  <a:srgbClr val="898989"/>
                </a:solidFill>
                <a:latin typeface="TradeGothic"/>
                <a:ea typeface="ＭＳ Ｐゴシック"/>
              </a:r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mohua.gov.in/upload/uploadfiles/files/AMRUT%20SOP%20Book%20Final.pdf" TargetMode="External"/><Relationship Id="rId7" Type="http://schemas.openxmlformats.org/officeDocument/2006/relationships/hyperlink" Target="https://solinastechnologies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nantamias.com/current-affairs/hazardous-cleaning-and-manual-scavenging/" TargetMode="External"/><Relationship Id="rId5" Type="http://schemas.openxmlformats.org/officeDocument/2006/relationships/hyperlink" Target="https://en.wikipedia.org/wiki/Manual_scavenging" TargetMode="External"/><Relationship Id="rId4" Type="http://schemas.openxmlformats.org/officeDocument/2006/relationships/hyperlink" Target="https://timesofindia.indiatimes.com/city/gurgaon/gurgon-civic-body-tightenscurb-on-manual-sewer-entry-safety-gear-must/articleshow/122785149.cms" TargetMode="Externa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23880" y="0"/>
            <a:ext cx="9143280" cy="68572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6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56680" y="8514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</a:gdLst>
            <a:ahLst/>
            <a:cxnLst/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lt1"/>
              </a:solidFill>
              <a:latin typeface="Calibri"/>
              <a:ea typeface="ＭＳ Ｐゴシック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subTitle"/>
          </p:nvPr>
        </p:nvSpPr>
        <p:spPr>
          <a:xfrm>
            <a:off x="1245600" y="648720"/>
            <a:ext cx="8533800" cy="1751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TITLE PAGE</a:t>
            </a: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strike="noStrike" spc="-1">
                <a:solidFill>
                  <a:schemeClr val="dk2"/>
                </a:solidFill>
                <a:latin typeface="Garamond"/>
                <a:ea typeface="ＭＳ Ｐゴシック"/>
              </a:rPr>
              <a:t>“SAMVED” HACKATHON 2026</a:t>
            </a:r>
            <a:endParaRPr lang="en-IN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331200" y="2076480"/>
            <a:ext cx="8029440" cy="46852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ID –</a:t>
            </a:r>
            <a:r>
              <a:rPr lang="en-GB" sz="2400" b="1" spc="-1" dirty="0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lang="en-GB" sz="2400" spc="-1" dirty="0">
                <a:solidFill>
                  <a:schemeClr val="dk1"/>
                </a:solidFill>
                <a:latin typeface="Arial"/>
                <a:ea typeface="ＭＳ Ｐゴシック"/>
              </a:rPr>
              <a:t>04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Problem Statement Title-</a:t>
            </a:r>
            <a:r>
              <a:rPr lang="en-GB" sz="2400" b="1" spc="-1" dirty="0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lang="en-GB" sz="2400" spc="-1" dirty="0">
                <a:solidFill>
                  <a:schemeClr val="dk1"/>
                </a:solidFill>
                <a:latin typeface="Arial"/>
                <a:ea typeface="ＭＳ Ｐゴシック"/>
              </a:rPr>
              <a:t>Semi-Automatic Manhole Cleaning Machine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Theme</a:t>
            </a:r>
            <a:r>
              <a:rPr lang="en-GB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- </a:t>
            </a:r>
            <a:r>
              <a:rPr lang="en-GB" sz="2400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safety &amp; Assistance for sanitation workers 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ID-</a:t>
            </a:r>
            <a:r>
              <a:rPr lang="en-GB" sz="2400" b="1" spc="-1" dirty="0">
                <a:solidFill>
                  <a:schemeClr val="dk1"/>
                </a:solidFill>
                <a:latin typeface="Arial"/>
                <a:ea typeface="ＭＳ Ｐゴシック"/>
              </a:rPr>
              <a:t> </a:t>
            </a:r>
            <a:r>
              <a:rPr lang="en-GB" sz="2400" spc="-1" dirty="0">
                <a:solidFill>
                  <a:schemeClr val="dk1"/>
                </a:solidFill>
                <a:latin typeface="Arial"/>
                <a:ea typeface="ＭＳ Ｐゴシック"/>
              </a:rPr>
              <a:t>MITVPU_SAMVED_Team1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1" strike="noStrike" spc="-1" dirty="0">
                <a:solidFill>
                  <a:schemeClr val="dk1"/>
                </a:solidFill>
                <a:latin typeface="Arial"/>
                <a:ea typeface="ＭＳ Ｐゴシック"/>
              </a:rPr>
              <a:t>Team Name </a:t>
            </a:r>
            <a:r>
              <a:rPr lang="en-GB" sz="2400" b="1" spc="-1" dirty="0">
                <a:solidFill>
                  <a:schemeClr val="dk1"/>
                </a:solidFill>
                <a:latin typeface="Arial"/>
                <a:ea typeface="ＭＳ Ｐゴシック"/>
              </a:rPr>
              <a:t>: </a:t>
            </a:r>
            <a:r>
              <a:rPr lang="en-GB" sz="2400" spc="-1" dirty="0">
                <a:solidFill>
                  <a:schemeClr val="dk1"/>
                </a:solidFill>
                <a:latin typeface="Arial"/>
                <a:ea typeface="ＭＳ Ｐゴシック"/>
              </a:rPr>
              <a:t>SURAKSHA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0" name="Picture 59"/>
          <p:cNvPicPr/>
          <p:nvPr/>
        </p:nvPicPr>
        <p:blipFill>
          <a:blip r:embed="rId2"/>
          <a:stretch/>
        </p:blipFill>
        <p:spPr>
          <a:xfrm>
            <a:off x="8640000" y="1373040"/>
            <a:ext cx="3420000" cy="1326960"/>
          </a:xfrm>
          <a:prstGeom prst="rect">
            <a:avLst/>
          </a:prstGeom>
          <a:ln w="0">
            <a:noFill/>
          </a:ln>
        </p:spPr>
      </p:pic>
      <p:pic>
        <p:nvPicPr>
          <p:cNvPr id="61" name="Picture 60"/>
          <p:cNvPicPr/>
          <p:nvPr/>
        </p:nvPicPr>
        <p:blipFill>
          <a:blip r:embed="rId3"/>
          <a:stretch/>
        </p:blipFill>
        <p:spPr>
          <a:xfrm>
            <a:off x="8733240" y="3420000"/>
            <a:ext cx="3099960" cy="1260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8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29760" y="305443"/>
            <a:ext cx="10972080" cy="770805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br>
              <a:rPr lang="en-US" sz="2800" b="1" spc="-1" dirty="0">
                <a:solidFill>
                  <a:schemeClr val="dk1"/>
                </a:solidFill>
                <a:latin typeface="Times New Roman"/>
                <a:ea typeface="ＭＳ Ｐゴシック"/>
              </a:rPr>
            </a:br>
            <a:r>
              <a:rPr lang="en-US" sz="2800" b="1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Semi-Automatic Manhole Cleaning Machine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Box 8"/>
          <p:cNvSpPr/>
          <p:nvPr/>
        </p:nvSpPr>
        <p:spPr>
          <a:xfrm>
            <a:off x="329760" y="1455584"/>
            <a:ext cx="11532480" cy="5569302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buClr>
                <a:srgbClr val="1F497D"/>
              </a:buClr>
            </a:pPr>
            <a:r>
              <a:rPr lang="en-US" sz="2800" b="1" u="sng" strike="noStrike" spc="-1" dirty="0">
                <a:solidFill>
                  <a:schemeClr val="dk2"/>
                </a:solidFill>
                <a:uFillTx/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Proposed Solution</a:t>
            </a:r>
            <a:r>
              <a:rPr lang="en-US" sz="2800" b="1" u="sng" spc="-1" dirty="0">
                <a:solidFill>
                  <a:schemeClr val="dk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:</a:t>
            </a:r>
            <a:endParaRPr lang="en-IN" sz="2800" b="0" u="sng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emi-Automatic manhole Cleaning Machine, a portable tripod with hand </a:t>
            </a:r>
            <a:r>
              <a:rPr lang="en-IN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crank/electric, and a clamshell grabber for remote debris removal from sewers, ensuring zero-entry for sanitation workers. </a:t>
            </a:r>
          </a:p>
          <a:p>
            <a:pPr marL="342900" indent="-342900" algn="just" defTabSz="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approached sanitary workers and identified that they were facing difficulties in extracting waste from the manhole. </a:t>
            </a:r>
          </a:p>
          <a:p>
            <a:pPr defTabSz="457200">
              <a:lnSpc>
                <a:spcPct val="100000"/>
              </a:lnSpc>
            </a:pPr>
            <a:r>
              <a:rPr lang="en-IN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uniqueness:</a:t>
            </a:r>
          </a:p>
          <a:p>
            <a:pPr marL="514350" indent="-514350" defTabSz="457200">
              <a:lnSpc>
                <a:spcPct val="100000"/>
              </a:lnSpc>
              <a:buFont typeface="+mj-lt"/>
              <a:buAutoNum type="arabicPeriod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lift optimization</a:t>
            </a:r>
          </a:p>
          <a:p>
            <a:pPr marL="514350" indent="-514350" defTabSz="457200">
              <a:buFont typeface="+mj-lt"/>
              <a:buAutoNum type="arabicPeriod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zero-entry safety design</a:t>
            </a:r>
          </a:p>
          <a:p>
            <a:pPr marL="457200" indent="-457200" defTabSz="457200">
              <a:lnSpc>
                <a:spcPct val="100000"/>
              </a:lnSpc>
              <a:buFont typeface="+mj-lt"/>
              <a:buAutoNum type="arabicPeriod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Precision cleaning for confined urban spaces</a:t>
            </a:r>
          </a:p>
          <a:p>
            <a:pPr marL="457200" indent="-457200" defTabSz="457200">
              <a:lnSpc>
                <a:spcPct val="100000"/>
              </a:lnSpc>
              <a:buFont typeface="+mj-lt"/>
              <a:buAutoNum type="arabicPeriod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Bridging the gap between manual labour and</a:t>
            </a:r>
          </a:p>
          <a:p>
            <a:pPr marL="457200" indent="-457200" defTabSz="457200">
              <a:lnSpc>
                <a:spcPct val="100000"/>
              </a:lnSpc>
              <a:buFont typeface="+mj-lt"/>
              <a:buAutoNum type="arabicPeriod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heavy machinery</a:t>
            </a:r>
            <a:endParaRPr lang="en-IN" sz="2000" b="1" strike="noStrike" spc="-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457200">
              <a:lnSpc>
                <a:spcPct val="100000"/>
              </a:lnSpc>
            </a:pPr>
            <a:endParaRPr lang="en-IN" sz="3200" b="0" strike="noStrike" spc="-1" dirty="0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4B43EC6-6A2F-4FEF-B416-2BF9BFF0B0D0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2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Oval 9"/>
          <p:cNvSpPr/>
          <p:nvPr/>
        </p:nvSpPr>
        <p:spPr>
          <a:xfrm>
            <a:off x="329759" y="252360"/>
            <a:ext cx="1479375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GB" sz="1400" b="0" strike="noStrike" spc="-1" dirty="0">
                <a:solidFill>
                  <a:schemeClr val="dk1"/>
                </a:solidFill>
                <a:latin typeface="Calibri"/>
                <a:ea typeface="ＭＳ Ｐゴシック"/>
              </a:rPr>
              <a:t>Team:
SURAKSH</a:t>
            </a:r>
            <a:r>
              <a:rPr lang="en-GB" sz="1400" spc="-1" dirty="0">
                <a:solidFill>
                  <a:schemeClr val="dk1"/>
                </a:solidFill>
                <a:latin typeface="Calibri"/>
                <a:ea typeface="ＭＳ Ｐゴシック"/>
              </a:rPr>
              <a:t>A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7" name="Picture 66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67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C142B32-ECFF-8835-F784-DB8741B0A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94228" y="3411496"/>
            <a:ext cx="1372264" cy="27535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49B5F2-5050-E94E-E5FA-F600D9A415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986" y="3411496"/>
            <a:ext cx="2392289" cy="28210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strike="noStrike" spc="-1">
              <a:solidFill>
                <a:schemeClr val="accent2">
                  <a:lumMod val="75000"/>
                </a:schemeClr>
              </a:solidFill>
              <a:latin typeface="Calibri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-540774" y="0"/>
            <a:ext cx="10440774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TECHNICAL APPROACH</a:t>
            </a:r>
            <a:endParaRPr lang="en-IN" sz="3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8"/>
          <p:cNvSpPr/>
          <p:nvPr/>
        </p:nvSpPr>
        <p:spPr>
          <a:xfrm>
            <a:off x="521109" y="1141421"/>
            <a:ext cx="10658167" cy="5076859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32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Technologies used:</a:t>
            </a:r>
            <a:endParaRPr lang="en-US" sz="3200" b="1" u="sng" spc="-1" dirty="0">
              <a:solidFill>
                <a:schemeClr val="tx2"/>
              </a:solidFill>
              <a:latin typeface="Times New Roman" panose="02020603050405020304" pitchFamily="18" charset="0"/>
              <a:ea typeface="ＭＳ Ｐゴシック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Mechanical &amp; structural technology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chemeClr val="dk1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Grabbing and desilting technology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chemeClr val="dk1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Safety and material technology</a:t>
            </a:r>
            <a:endParaRPr lang="en-IN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Methodology: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 – Unsafe manual manhole cleaning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-  Tripod + pulley + motor + battery + grabber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selection </a:t>
            </a: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lightweight, strong, corrosion-resistant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– Tripod setup, motor, </a:t>
            </a: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grabber integration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</a:t>
            </a: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placed over a manhole, stable alignment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 – Motorized lifting, waste grabbing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– load &amp; safety check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4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– safety, efficiency, ease of use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sldNum" idx="3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897DFA0-2B89-4689-95EA-35970505E89A}" type="slidenum">
              <a:rPr lang="en-US" sz="1200" b="1" strike="noStrike" spc="-1">
                <a:solidFill>
                  <a:schemeClr val="lt1"/>
                </a:solidFill>
                <a:latin typeface="TradeGothic"/>
                <a:ea typeface="ＭＳ Ｐゴシック"/>
              </a:rPr>
              <a:t>3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Oval 10"/>
          <p:cNvSpPr/>
          <p:nvPr/>
        </p:nvSpPr>
        <p:spPr>
          <a:xfrm>
            <a:off x="344129" y="252360"/>
            <a:ext cx="1489978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GB" sz="1800" b="0" strike="noStrike" spc="-1" dirty="0">
                <a:solidFill>
                  <a:schemeClr val="dk1"/>
                </a:solidFill>
                <a:latin typeface="Calibri"/>
                <a:ea typeface="ＭＳ Ｐゴシック"/>
              </a:rPr>
              <a:t>Team:</a:t>
            </a:r>
            <a:endParaRPr lang="en-GB" sz="1600" spc="-1" dirty="0">
              <a:solidFill>
                <a:schemeClr val="dk1"/>
              </a:solidFill>
              <a:latin typeface="Calibri"/>
              <a:ea typeface="ＭＳ Ｐゴシック"/>
            </a:endParaRPr>
          </a:p>
          <a:p>
            <a:pPr algn="ctr" defTabSz="457200">
              <a:lnSpc>
                <a:spcPct val="100000"/>
              </a:lnSpc>
            </a:pPr>
            <a:r>
              <a:rPr lang="en-GB" sz="1400" spc="-1" dirty="0">
                <a:solidFill>
                  <a:schemeClr val="dk1"/>
                </a:solidFill>
                <a:latin typeface="Calibri"/>
                <a:ea typeface="ＭＳ Ｐゴシック"/>
              </a:rPr>
              <a:t>SURAKSHA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Picture 73"/>
          <p:cNvPicPr/>
          <p:nvPr/>
        </p:nvPicPr>
        <p:blipFill>
          <a:blip r:embed="rId3"/>
          <a:stretch/>
        </p:blipFill>
        <p:spPr>
          <a:xfrm>
            <a:off x="10080000" y="14400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75" name="Picture 74"/>
          <p:cNvPicPr/>
          <p:nvPr/>
        </p:nvPicPr>
        <p:blipFill>
          <a:blip r:embed="rId4"/>
          <a:stretch/>
        </p:blipFill>
        <p:spPr>
          <a:xfrm>
            <a:off x="8280000" y="108000"/>
            <a:ext cx="1716120" cy="697320"/>
          </a:xfrm>
          <a:prstGeom prst="rect">
            <a:avLst/>
          </a:prstGeom>
          <a:ln w="0"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D23475-00B6-09FC-637F-42845029CF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516" y="805320"/>
            <a:ext cx="3791884" cy="53961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20000" y="-62280"/>
            <a:ext cx="882000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FEASIBILITY AND VIABILITY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610440" y="1092489"/>
            <a:ext cx="10969560" cy="5569302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800" b="1" u="sng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F</a:t>
            </a: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easibility Analysis:</a:t>
            </a: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Uses simple and easily available components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(tripod, grabber,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motor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&amp;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battery).</a:t>
            </a: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Low cost and easy to operate. </a:t>
            </a: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Improve worker’s safety by avoiding human entry into the manhole.</a:t>
            </a:r>
          </a:p>
          <a:p>
            <a:pPr marL="457200" indent="-457200" algn="just" defTabSz="457200">
              <a:lnSpc>
                <a:spcPct val="100000"/>
              </a:lnSpc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Suitable for municipal and small-scale use.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ＭＳ Ｐゴシック"/>
              <a:cs typeface="Times New Roman" panose="02020603050405020304" pitchFamily="18" charset="0"/>
            </a:endParaRP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Potential challenges and risks: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wear of pulley, cable, or grabber.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Battery or motor failure.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Overloading of the system.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IN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in a wet and corrosive environment.</a:t>
            </a:r>
          </a:p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Strategies for overcoming these challenges: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Use strong, corrosion-resistant material.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Perform </a:t>
            </a:r>
            <a:r>
              <a:rPr lang="en-US" sz="2000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regu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lar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IN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maintenance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and inspections.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Follows safe load limits.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Use reliable batteries and basic operator training.</a:t>
            </a:r>
            <a:r>
              <a:rPr lang="en-US" sz="2000" spc="-1" dirty="0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IN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ldNum" idx="3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C2B4984-A851-437F-9FF6-020B4ADC801A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4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Oval 11"/>
          <p:cNvSpPr/>
          <p:nvPr/>
        </p:nvSpPr>
        <p:spPr>
          <a:xfrm>
            <a:off x="412955" y="252360"/>
            <a:ext cx="1504335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GB" sz="1800" b="0" strike="noStrike" spc="-1" dirty="0">
                <a:solidFill>
                  <a:schemeClr val="dk1"/>
                </a:solidFill>
                <a:latin typeface="Calibri"/>
                <a:ea typeface="ＭＳ Ｐゴシック"/>
              </a:rPr>
              <a:t>Team:</a:t>
            </a:r>
            <a:endParaRPr lang="en-GB" sz="1600" spc="-1" dirty="0">
              <a:solidFill>
                <a:schemeClr val="dk1"/>
              </a:solidFill>
              <a:latin typeface="Calibri"/>
              <a:ea typeface="ＭＳ Ｐゴシック"/>
            </a:endParaRPr>
          </a:p>
          <a:p>
            <a:pPr algn="ctr" defTabSz="457200">
              <a:lnSpc>
                <a:spcPct val="100000"/>
              </a:lnSpc>
            </a:pPr>
            <a:r>
              <a:rPr lang="en-GB" sz="1400" spc="-1" dirty="0">
                <a:solidFill>
                  <a:schemeClr val="dk1"/>
                </a:solidFill>
                <a:latin typeface="Calibri"/>
                <a:ea typeface="ＭＳ Ｐゴシック"/>
              </a:rPr>
              <a:t>SURAKSHA</a:t>
            </a:r>
            <a:endParaRPr lang="en-IN" sz="1400" b="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1" name="Picture 80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81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>
                <a:solidFill>
                  <a:schemeClr val="dk1"/>
                </a:solidFill>
                <a:latin typeface="Times New Roman"/>
                <a:ea typeface="ＭＳ Ｐゴシック"/>
              </a:rPr>
              <a:t>IMPACT AND BENEFITS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8"/>
          <p:cNvSpPr/>
          <p:nvPr/>
        </p:nvSpPr>
        <p:spPr>
          <a:xfrm>
            <a:off x="329760" y="1616458"/>
            <a:ext cx="10009980" cy="4098194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50000"/>
              </a:lnSpc>
              <a:buClr>
                <a:srgbClr val="000000"/>
              </a:buClr>
            </a:pPr>
            <a:r>
              <a:rPr lang="en-GB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Po</a:t>
            </a:r>
            <a:r>
              <a:rPr lang="en-US" sz="2800" b="1" u="sng" strike="noStrike" spc="-1" dirty="0" err="1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tential</a:t>
            </a: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impact on the target audience:</a:t>
            </a:r>
            <a:endParaRPr lang="en-GB" sz="2800" b="1" u="sng" strike="noStrike" spc="-1" dirty="0">
              <a:solidFill>
                <a:schemeClr val="tx2"/>
              </a:solidFill>
              <a:latin typeface="Times New Roman" panose="02020603050405020304" pitchFamily="18" charset="0"/>
              <a:ea typeface="ＭＳ Ｐゴシック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Reduce the health risks of sanitation workers. </a:t>
            </a: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the safety and dignity of the 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laborers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GB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Ears to  Use with minimal training. </a:t>
            </a:r>
            <a:endParaRPr lang="en-IN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57200">
              <a:lnSpc>
                <a:spcPct val="150000"/>
              </a:lnSpc>
              <a:buClr>
                <a:srgbClr val="000000"/>
              </a:buClr>
            </a:pP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Benefits</a:t>
            </a:r>
            <a:r>
              <a:rPr lang="en-GB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of</a:t>
            </a:r>
            <a:r>
              <a:rPr lang="en-GB" sz="2800" b="1" u="sng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 </a:t>
            </a:r>
            <a:r>
              <a:rPr lang="en-US" sz="2800" b="1" u="sng" strike="noStrike" spc="-1" dirty="0">
                <a:solidFill>
                  <a:schemeClr val="tx2"/>
                </a:solidFill>
                <a:latin typeface="Times New Roman" panose="02020603050405020304" pitchFamily="18" charset="0"/>
                <a:ea typeface="ＭＳ Ｐゴシック"/>
                <a:cs typeface="Times New Roman" panose="02020603050405020304" pitchFamily="18" charset="0"/>
              </a:rPr>
              <a:t>the solution:</a:t>
            </a:r>
            <a:endParaRPr lang="en-GB" sz="2800" b="1" u="sng" spc="-1" dirty="0">
              <a:solidFill>
                <a:schemeClr val="tx2"/>
              </a:solidFill>
              <a:latin typeface="Times New Roman" panose="02020603050405020304" pitchFamily="18" charset="0"/>
              <a:ea typeface="ＭＳ Ｐゴシック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Social:  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 Manual scavenging and improve worker safety. </a:t>
            </a: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Economic: 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</a:t>
            </a:r>
            <a:r>
              <a:rPr lang="en-GB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system, reduce  Medical and  Expenses.</a:t>
            </a:r>
          </a:p>
          <a:p>
            <a:pPr marL="343080" indent="-343080" algn="just" defTabSz="4572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 </a:t>
            </a:r>
            <a:r>
              <a:rPr lang="en-GB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Cleaner  manholes, reduce waste spillage.</a:t>
            </a:r>
            <a:endParaRPr lang="en-IN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69EEA44-DB6D-4734-8EBF-8D8B568EA8BC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5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Oval 11"/>
          <p:cNvSpPr/>
          <p:nvPr/>
        </p:nvSpPr>
        <p:spPr>
          <a:xfrm>
            <a:off x="329760" y="252360"/>
            <a:ext cx="1361388" cy="84240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GB" sz="1400" b="0" strike="noStrike" spc="-1" dirty="0">
                <a:solidFill>
                  <a:schemeClr val="dk1"/>
                </a:solidFill>
                <a:latin typeface="Calibri"/>
                <a:ea typeface="ＭＳ Ｐゴシック"/>
              </a:rPr>
              <a:t>Team:</a:t>
            </a:r>
            <a:endParaRPr lang="en-GB" sz="1400" spc="-1" dirty="0">
              <a:solidFill>
                <a:schemeClr val="dk1"/>
              </a:solidFill>
              <a:latin typeface="Calibri"/>
              <a:ea typeface="ＭＳ Ｐゴシック"/>
            </a:endParaRPr>
          </a:p>
          <a:p>
            <a:pPr algn="ctr" defTabSz="457200">
              <a:lnSpc>
                <a:spcPct val="100000"/>
              </a:lnSpc>
            </a:pPr>
            <a:r>
              <a:rPr lang="en-GB" sz="1400" spc="-1" dirty="0">
                <a:solidFill>
                  <a:schemeClr val="dk1"/>
                </a:solidFill>
                <a:latin typeface="Calibri"/>
                <a:ea typeface="ＭＳ Ｐゴシック"/>
              </a:rPr>
              <a:t>SURAKSHA</a:t>
            </a:r>
            <a:endParaRPr lang="en-IN" sz="14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87"/>
          <p:cNvPicPr/>
          <p:nvPr/>
        </p:nvPicPr>
        <p:blipFill>
          <a:blip r:embed="rId3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88"/>
          <p:cNvPicPr/>
          <p:nvPr/>
        </p:nvPicPr>
        <p:blipFill>
          <a:blip r:embed="rId4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525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>
              <a:solidFill>
                <a:srgbClr val="953735"/>
              </a:solidFill>
              <a:latin typeface="Calibri"/>
              <a:ea typeface="ＭＳ Ｐゴシック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-180000"/>
            <a:ext cx="10432080" cy="1851484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  <a:ea typeface="ＭＳ Ｐゴシック"/>
              </a:rPr>
              <a:t>RESEARCH  AND REFERENCES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8"/>
          <p:cNvSpPr/>
          <p:nvPr/>
        </p:nvSpPr>
        <p:spPr>
          <a:xfrm>
            <a:off x="519977" y="1205021"/>
            <a:ext cx="10796952" cy="4830638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just" defTabSz="457200">
              <a:lnSpc>
                <a:spcPct val="100000"/>
              </a:lnSpc>
              <a:buClr>
                <a:srgbClr val="000000"/>
              </a:buClr>
            </a:pPr>
            <a:endParaRPr lang="en-GB" sz="2000" b="0" strike="noStrike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MoHUA</a:t>
            </a: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GB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SOP</a:t>
            </a: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 Sewer and septic tank Operations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https://mohua.gov.in/upload/uploadfiles/files/AMRUT%20SOP%20Book%20Final.pdf</a:t>
            </a:r>
            <a:endParaRPr lang="en-GB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 on Manual Sewer Entry &amp;Use of Machines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https://timesofindia.indiatimes.com/city/gurgaon/gurgon-civic-body-tightenscurb-on-manual-sewer-entry-safety-gear-must/articleshow/122785149.cms</a:t>
            </a:r>
            <a:endParaRPr lang="en-GB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scavenging – Overview&amp; risks:-</a:t>
            </a:r>
          </a:p>
          <a:p>
            <a:pPr marL="343080" indent="-343080" algn="just" defTabSz="457200"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https://en.wikipedia.org/wiki/Manual_scavenging</a:t>
            </a:r>
            <a:endParaRPr lang="en-GB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Hazardous Cleaning Issues in India:-</a:t>
            </a: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4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https://anantamias.com/current-affairs/hazardous-cleaning-and-manual-scavenging/</a:t>
            </a:r>
            <a:endParaRPr lang="en-GB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3080" indent="-343080" algn="just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SOLINAS Technologies - Innovation in Locating [Plastic Pipe,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NonMetallic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Pipe, Lead Pipe]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072BBF3-5608-46E8-875A-9E3D66DF137E}" type="slidenum">
              <a:rPr lang="en-US" sz="1200" b="1" strike="noStrike" spc="-1">
                <a:solidFill>
                  <a:srgbClr val="FFFFFF"/>
                </a:solidFill>
                <a:latin typeface="TradeGothic"/>
                <a:ea typeface="ＭＳ Ｐゴシック"/>
              </a:rPr>
              <a:t>6</a:t>
            </a:fld>
            <a:endParaRPr lang="en-IN" sz="1200" b="0" strike="noStrike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Oval 8"/>
          <p:cNvSpPr/>
          <p:nvPr/>
        </p:nvSpPr>
        <p:spPr>
          <a:xfrm>
            <a:off x="329760" y="250186"/>
            <a:ext cx="1430160" cy="806760"/>
          </a:xfrm>
          <a:prstGeom prst="ellipse">
            <a:avLst/>
          </a:prstGeom>
          <a:solidFill>
            <a:srgbClr val="FFFFFF"/>
          </a:solidFill>
          <a:ln>
            <a:solidFill>
              <a:srgbClr val="8064A2"/>
            </a:solidFill>
            <a:rou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GB" sz="1400" b="0" strike="noStrike" spc="-1" dirty="0">
                <a:solidFill>
                  <a:schemeClr val="dk1"/>
                </a:solidFill>
                <a:latin typeface="Calibri"/>
                <a:ea typeface="ＭＳ Ｐゴシック"/>
              </a:rPr>
              <a:t>Team:</a:t>
            </a:r>
            <a:endParaRPr lang="en-GB" sz="1400" spc="-1" dirty="0">
              <a:solidFill>
                <a:schemeClr val="dk1"/>
              </a:solidFill>
              <a:latin typeface="Calibri"/>
              <a:ea typeface="ＭＳ Ｐゴシック"/>
            </a:endParaRPr>
          </a:p>
          <a:p>
            <a:pPr algn="ctr" defTabSz="457200">
              <a:lnSpc>
                <a:spcPct val="100000"/>
              </a:lnSpc>
            </a:pPr>
            <a:r>
              <a:rPr lang="en-GB" sz="1400" spc="-1" dirty="0">
                <a:solidFill>
                  <a:schemeClr val="dk1"/>
                </a:solidFill>
                <a:latin typeface="Calibri"/>
                <a:ea typeface="ＭＳ Ｐゴシック"/>
              </a:rPr>
              <a:t>SURAKSHA</a:t>
            </a:r>
            <a:endParaRPr lang="en-GB" sz="1400" spc="-1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pic>
        <p:nvPicPr>
          <p:cNvPr id="95" name="Picture 94"/>
          <p:cNvPicPr/>
          <p:nvPr/>
        </p:nvPicPr>
        <p:blipFill>
          <a:blip r:embed="rId8"/>
          <a:stretch/>
        </p:blipFill>
        <p:spPr>
          <a:xfrm>
            <a:off x="10080360" y="144360"/>
            <a:ext cx="1877400" cy="581040"/>
          </a:xfrm>
          <a:prstGeom prst="rect">
            <a:avLst/>
          </a:prstGeom>
          <a:ln w="0">
            <a:noFill/>
          </a:ln>
        </p:spPr>
      </p:pic>
      <p:pic>
        <p:nvPicPr>
          <p:cNvPr id="96" name="Picture 95"/>
          <p:cNvPicPr/>
          <p:nvPr/>
        </p:nvPicPr>
        <p:blipFill>
          <a:blip r:embed="rId9"/>
          <a:stretch/>
        </p:blipFill>
        <p:spPr>
          <a:xfrm>
            <a:off x="8280360" y="108360"/>
            <a:ext cx="1716120" cy="697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7578</TotalTime>
  <Words>530</Words>
  <Application>Microsoft Office PowerPoint</Application>
  <PresentationFormat>Widescreen</PresentationFormat>
  <Paragraphs>88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6</vt:i4>
      </vt:variant>
    </vt:vector>
  </HeadingPairs>
  <TitlesOfParts>
    <vt:vector size="24" baseType="lpstr">
      <vt:lpstr>Arial</vt:lpstr>
      <vt:lpstr>Calibri</vt:lpstr>
      <vt:lpstr>Garamond</vt:lpstr>
      <vt:lpstr>Symbol</vt:lpstr>
      <vt:lpstr>Times New Roman</vt:lpstr>
      <vt:lpstr>TradeGothic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“SAMVED” HACKATHON 2026</vt:lpstr>
      <vt:lpstr> Semi-Automatic Manhole Cleaning Machine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kgr</cp:lastModifiedBy>
  <cp:revision>163</cp:revision>
  <dcterms:created xsi:type="dcterms:W3CDTF">2013-12-12T18:46:50Z</dcterms:created>
  <dcterms:modified xsi:type="dcterms:W3CDTF">2026-02-19T05:00:37Z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